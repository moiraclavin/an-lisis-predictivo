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XSaolThs2IelSivtU5xPawgL5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8D7F4-A186-4D17-ABC7-507E7101B128}">
  <a:tblStyle styleId="{DD68D7F4-A186-4D17-ABC7-507E7101B1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Ridge</c:v>
                  </c:pt>
                  <c:pt idx="1">
                    <c:v>Lasso</c:v>
                  </c:pt>
                  <c:pt idx="2">
                    <c:v>AdaBoost</c:v>
                  </c:pt>
                  <c:pt idx="3">
                    <c:v>Grad. Boosting</c:v>
                  </c:pt>
                  <c:pt idx="4">
                    <c:v>Random Forest</c:v>
                  </c:pt>
                  <c:pt idx="5">
                    <c:v>ExtraTrees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0.013982722383424684</c:v>
                </c:pt>
                <c:pt idx="1">
                  <c:v>0.012509870408380475</c:v>
                </c:pt>
                <c:pt idx="2">
                  <c:v>0.13021993749420802</c:v>
                </c:pt>
                <c:pt idx="3">
                  <c:v>0.19381926557090068</c:v>
                </c:pt>
                <c:pt idx="4">
                  <c:v>0.25338940667201804</c:v>
                </c:pt>
                <c:pt idx="5">
                  <c:v>0.277660102556344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A"/>
                    </a:solidFill>
                    <a:latin typeface="Arial"/>
                  </a:rPr>
                  <a:t>R² (validación GroupKFold)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4FD1C5"/>
              </a:solidFill>
              <a:effectLst/>
            </c:spPr>
          </c:dPt>
          <c:dPt>
            <c:idx val="2"/>
            <c:bubble3D val="0"/>
            <c:spPr>
              <a:solidFill>
                <a:srgbClr val="7FCDC9"/>
              </a:solidFill>
              <a:effectLst/>
            </c:spPr>
          </c:dPt>
          <c:dPt>
            <c:idx val="3"/>
            <c:bubble3D val="0"/>
            <c:spPr>
              <a:solidFill>
                <a:srgbClr val="B7E4E1"/>
              </a:solidFill>
              <a:effectLst/>
            </c:spPr>
          </c:dPt>
          <c:dPt>
            <c:idx val="4"/>
            <c:bubble3D val="0"/>
            <c:spPr>
              <a:solidFill>
                <a:srgbClr val="D6F0E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D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D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D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D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D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rap</c:v>
                </c:pt>
                <c:pt idx="1">
                  <c:v>pop</c:v>
                </c:pt>
                <c:pt idx="2">
                  <c:v>latin</c:v>
                </c:pt>
                <c:pt idx="3">
                  <c:v>rock</c:v>
                </c:pt>
                <c:pt idx="4">
                  <c:v>r&amp;b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5746</c:v>
                </c:pt>
                <c:pt idx="1">
                  <c:v>5507</c:v>
                </c:pt>
                <c:pt idx="2">
                  <c:v>5155</c:v>
                </c:pt>
                <c:pt idx="3">
                  <c:v>4951</c:v>
                </c:pt>
                <c:pt idx="4">
                  <c:v>4907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762B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edm</c:v>
                </c:pt>
                <c:pt idx="1">
                  <c:v>r&amp;b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6043</c:v>
                </c:pt>
                <c:pt idx="1">
                  <c:v>524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(GroupKFold)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ExtraTrees sin tunear</c:v>
                  </c:pt>
                  <c:pt idx="2">
                    <c:v>ExtraTrees tuneado (A)</c:v>
                  </c:pt>
                  <c:pt idx="3">
                    <c:v>Híbrido A + 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0.277660102556344</c:v>
                </c:pt>
                <c:pt idx="2">
                  <c:v>0.2764653786361446</c:v>
                </c:pt>
                <c:pt idx="3">
                  <c:v>0.2764653786361446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del trabajo final: predicción de popularidad de canciones de Spotify. Modelo final con Public Score 0.358 en Kaggle.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Baseline: DummyRegressor con media. R²=-0.0053, RMSE=25.06. No usa features.</a:t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18b6b1997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18b6b1997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18b6b1997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8b6b1997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18b6b1997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Baseline: DummyRegressor con media. R²=-0.0053, RMSE=25.06. No usa features.</a:t>
            </a:r>
            <a:endParaRPr/>
          </a:p>
        </p:txBody>
      </p:sp>
      <p:sp>
        <p:nvSpPr>
          <p:cNvPr id="59" name="Google Shape;59;g3f18b6b1997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0.01398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0.01251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AdaBoost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0.13022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0.19382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0.25339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ExtraTrees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0.27766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EDM ausente de train. GroupKFold por género simula el problema real: en cada fold, un género entero queda fuera del entrenamiento.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Grid search con GroupKFold sobre n_estimators, min_samples_leaf, max_features. También se evaluaron distintos feature sets y estrategias de ensemble.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Modelo A (general) R²=0.2765. Modelo B (especializado r&amp;b) R²_rb=0.4222.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Blend 70/30 para r&amp;b reduce riesgo de overfit del Modelo B. 28 features en 4 grupos. album_freq y artist_freq son las más importantes.</a:t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Evolución de R² local y de Public Score en Kaggle, desde el baseline hasta el modelo híbrido final (0.358).</a:t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limitaciones principales: EDM sin datos de entrenamiento, posibilidad de datos externos, adaptación de dominio, y más tiempo de cómputo para grid search.</a:t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Cierre: resumen de métricas clave y agradecimiento.</a:t>
            </a:r>
            <a:endParaRPr/>
          </a:p>
        </p:txBody>
      </p:sp>
      <p:sp>
        <p:nvSpPr>
          <p:cNvPr id="280" name="Google Shape;2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5C5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E7C7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4FD1C5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28600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Popularidad de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Canciones de Spotify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2519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E8E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AEE8E6"/>
                </a:solidFill>
                <a:latin typeface="Montserrat"/>
                <a:ea typeface="Montserrat"/>
                <a:cs typeface="Montserrat"/>
                <a:sym typeface="Montserrat"/>
              </a:rPr>
              <a:t>Examen 3, Análisis Predictivo </a:t>
            </a:r>
            <a:endParaRPr sz="2000">
              <a:solidFill>
                <a:srgbClr val="AEE8E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E8E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AEE8E6"/>
                </a:solidFill>
                <a:latin typeface="Montserrat"/>
                <a:ea typeface="Montserrat"/>
                <a:cs typeface="Montserrat"/>
                <a:sym typeface="Montserrat"/>
              </a:rPr>
              <a:t>Moira Patricia Clavin - 64959</a:t>
            </a:r>
            <a:endParaRPr sz="2000">
              <a:solidFill>
                <a:srgbClr val="AEE8E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E8E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AEE8E6"/>
                </a:solidFill>
                <a:latin typeface="Montserrat"/>
                <a:ea typeface="Montserrat"/>
                <a:cs typeface="Montserrat"/>
                <a:sym typeface="Montserrat"/>
              </a:rPr>
              <a:t>1Q2026</a:t>
            </a:r>
            <a:endParaRPr sz="2000">
              <a:solidFill>
                <a:srgbClr val="AEE8E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568" y="5566770"/>
            <a:ext cx="91500" cy="9150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9805" y="545248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FEE"/>
              </a:buClr>
              <a:buSzPts val="1350"/>
              <a:buFont typeface="Calibri"/>
              <a:buNone/>
            </a:pPr>
            <a:r>
              <a:rPr i="1" lang="en-US" sz="1350" u="none" cap="none" strike="noStrike">
                <a:solidFill>
                  <a:srgbClr val="D7EFEE"/>
                </a:solidFill>
                <a:latin typeface="Montserrat"/>
                <a:ea typeface="Montserrat"/>
                <a:cs typeface="Montserrat"/>
                <a:sym typeface="Montserrat"/>
              </a:rPr>
              <a:t>Modelo final: ExtraTrees con especialización por género  ·  Public Score Kaggle: 0.358</a:t>
            </a:r>
            <a:endParaRPr i="0" sz="13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2275" y="2079213"/>
            <a:ext cx="2629925" cy="26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</a:t>
            </a:r>
            <a:r>
              <a:rPr b="1" lang="en-US" sz="1100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Dataset: estructura y variables disponibles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3650" y="1417325"/>
            <a:ext cx="112647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dataset está compuesto por canciones de </a:t>
            </a:r>
            <a:r>
              <a:rPr b="1" lang="en-US" sz="14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Spotify</a:t>
            </a:r>
            <a:r>
              <a:rPr lang="en-US" sz="14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 junto con características musicales calculadas automáticamente por la plataforma y metadata asociada a cada canción.</a:t>
            </a:r>
            <a:endParaRPr sz="14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3428900"/>
            <a:ext cx="4146600" cy="2990100"/>
          </a:xfrm>
          <a:prstGeom prst="roundRect">
            <a:avLst>
              <a:gd fmla="val 400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08572" y="3520475"/>
            <a:ext cx="105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31525" y="4361625"/>
            <a:ext cx="18324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Audio Features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Danceability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Valence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Tempo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Loudness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Acousticness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Instrumentalness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Speechiness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08575" y="2217750"/>
            <a:ext cx="1403100" cy="8253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endParaRPr sz="19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" name="Google Shape;37;p3"/>
          <p:cNvCxnSpPr>
            <a:stCxn id="36" idx="3"/>
          </p:cNvCxnSpPr>
          <p:nvPr/>
        </p:nvCxnSpPr>
        <p:spPr>
          <a:xfrm>
            <a:off x="2011675" y="2630400"/>
            <a:ext cx="5316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" name="Google Shape;38;p3"/>
          <p:cNvSpPr/>
          <p:nvPr/>
        </p:nvSpPr>
        <p:spPr>
          <a:xfrm>
            <a:off x="2734525" y="2173200"/>
            <a:ext cx="443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consiste en predecir la variable </a:t>
            </a:r>
            <a:r>
              <a:rPr b="1"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track_popularity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una métrica de Spotify que mide la popularidad relativa de una canción en una escala de 0 a 100.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673988" y="3908775"/>
            <a:ext cx="18324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Metadata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Artista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Álbum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Fecha de lanzamiento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Género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Subgénero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Playlist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0" name="Google Shape;40;p3"/>
          <p:cNvGraphicFramePr/>
          <p:nvPr/>
        </p:nvGraphicFramePr>
        <p:xfrm>
          <a:off x="8025175" y="202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{DD68D7F4-A186-4D17-ABC7-507E7101B128}</a:tableStyleId>
              </a:tblPr>
              <a:tblGrid>
                <a:gridCol w="874175"/>
                <a:gridCol w="1651225"/>
                <a:gridCol w="1068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Observaciones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Variables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Train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26.266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6.567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" name="Google Shape;41;p3"/>
          <p:cNvSpPr/>
          <p:nvPr/>
        </p:nvSpPr>
        <p:spPr>
          <a:xfrm>
            <a:off x="5126100" y="3442425"/>
            <a:ext cx="6492900" cy="2990100"/>
          </a:xfrm>
          <a:prstGeom prst="roundRect">
            <a:avLst>
              <a:gd fmla="val 400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277477" y="3534000"/>
            <a:ext cx="62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Engineering: construcción de variables predictivas (28)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277475" y="4130363"/>
            <a:ext cx="18324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Fecha de lanzamiento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release_year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release_age_days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release_date_missing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release_year_only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release_jan1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135438" y="4270250"/>
            <a:ext cx="23631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Interacciones de audio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× loudness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valence × danceability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− acousticness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instrumentalness × energy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danceability × energy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acousticness × valence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duration_min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loudness_norm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586576" y="4234463"/>
            <a:ext cx="23631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Frecuencias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artist_freq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album_freq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Meta-feature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genre_seen_in_train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f18b6b1997_0_45" title="Captura de pantalla 2026-06-17 a la(s) 1.14.46 a. 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225" y="1910898"/>
            <a:ext cx="2963126" cy="18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f18b6b1997_0_45" title="Captura de pantalla 2026-06-17 a la(s) 1.15.04 a. m.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8925" y="4045825"/>
            <a:ext cx="4813674" cy="27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g3f18b6b1997_0_45" title="Captura de pantalla 2026-06-17 a la(s) 1.15.35 a. 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69125" y="184975"/>
            <a:ext cx="3197726" cy="198764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18b6b1997_0_45"/>
          <p:cNvSpPr/>
          <p:nvPr/>
        </p:nvSpPr>
        <p:spPr>
          <a:xfrm>
            <a:off x="353150" y="30894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Analysis: hallazgos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g3f18b6b1997_0_45"/>
          <p:cNvSpPr txBox="1"/>
          <p:nvPr/>
        </p:nvSpPr>
        <p:spPr>
          <a:xfrm>
            <a:off x="249775" y="1087775"/>
            <a:ext cx="4978500" cy="5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El dataset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tiene valores nulos relevantes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las columnas numéricas.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La variable objetivo es razonablemente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simétrica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 no requiere transformación.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El split train/val fue realizado por género, no aleatoriamente— EDM (92% de val) está completamente ausente de train.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archivo val.csv está ordenado por género, no mezclado: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primero 524 filas de r&amp;b, después 6.043 filas de EDM.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popularidad promedio es similar entre géneros 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el género per se no explica la popularidad, lo que da sustento a un enfoque basado en audio.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6. Pop es el género más cercano a EDM en perfil de audio; r&amp;b es el más lejano, pero es el único compartido entre train y val.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7.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65%+ de los artistas en val no aparece en train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esto descarta el uso de estadísticas por artista como features confiables.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8. Las correlaciones lineales individuales con la popularidad son débiles, lo que </a:t>
            </a: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sugiere relaciones no lineales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apropiado para modelos de árboles.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9. Existen correlaciones esperables entre features de audio (energy-loudness, energy-acousticness), que motivan features de interacción.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18b6b1997_0_2"/>
          <p:cNvSpPr/>
          <p:nvPr/>
        </p:nvSpPr>
        <p:spPr>
          <a:xfrm>
            <a:off x="457200" y="320040"/>
            <a:ext cx="1554600" cy="36570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18b6b1997_0_2"/>
          <p:cNvSpPr/>
          <p:nvPr/>
        </p:nvSpPr>
        <p:spPr>
          <a:xfrm>
            <a:off x="457200" y="32004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Calibri"/>
                <a:ea typeface="Calibri"/>
                <a:cs typeface="Calibri"/>
                <a:sym typeface="Calibri"/>
              </a:rPr>
              <a:t>SECCIÓN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18b6b1997_0_2"/>
          <p:cNvSpPr/>
          <p:nvPr/>
        </p:nvSpPr>
        <p:spPr>
          <a:xfrm>
            <a:off x="457200" y="77724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Modelo Baseline: punto de referencia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database_teal.png" id="64" name="Google Shape;64;g3f18b6b199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f18b6b1997_0_2"/>
          <p:cNvSpPr/>
          <p:nvPr/>
        </p:nvSpPr>
        <p:spPr>
          <a:xfrm>
            <a:off x="1143000" y="1691640"/>
            <a:ext cx="576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DummyRegressor (estrategia: media)</a:t>
            </a:r>
            <a:endParaRPr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f18b6b1997_0_2"/>
          <p:cNvSpPr/>
          <p:nvPr/>
        </p:nvSpPr>
        <p:spPr>
          <a:xfrm>
            <a:off x="457200" y="233172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450"/>
              <a:buFont typeface="Montserrat"/>
              <a:buChar char="•"/>
            </a:pPr>
            <a:r>
              <a:rPr i="0" lang="en-US" sz="14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Predice siempre el promedio histórico de track_popularity observado en train (44.54), sin usar ninguna feature.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D2D"/>
              </a:buClr>
              <a:buSzPts val="1450"/>
              <a:buFont typeface="Montserrat"/>
              <a:buChar char="•"/>
            </a:pPr>
            <a:r>
              <a:rPr i="0" lang="en-US" sz="14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Se entrena en milisegundos: sirve estrictamente como piso de comparación.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D2D"/>
              </a:buClr>
              <a:buSzPts val="1450"/>
              <a:buFont typeface="Montserrat"/>
              <a:buChar char="•"/>
            </a:pPr>
            <a:r>
              <a:rPr i="0" lang="en-US" sz="14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Validado con el mismo esquema (GroupKFold por género) que el modelo final, para que la comparación sea directa y justa.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f18b6b1997_0_2"/>
          <p:cNvSpPr/>
          <p:nvPr/>
        </p:nvSpPr>
        <p:spPr>
          <a:xfrm>
            <a:off x="457200" y="4343400"/>
            <a:ext cx="6400800" cy="1828800"/>
          </a:xfrm>
          <a:prstGeom prst="roundRect">
            <a:avLst>
              <a:gd fmla="val 400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warning_orange.png" id="68" name="Google Shape;68;g3f18b6b1997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4572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f18b6b1997_0_2"/>
          <p:cNvSpPr/>
          <p:nvPr/>
        </p:nvSpPr>
        <p:spPr>
          <a:xfrm>
            <a:off x="1280160" y="4553712"/>
            <a:ext cx="539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Features usadas: ninguna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3f18b6b1997_0_2"/>
          <p:cNvSpPr/>
          <p:nvPr/>
        </p:nvSpPr>
        <p:spPr>
          <a:xfrm>
            <a:off x="731520" y="5074920"/>
            <a:ext cx="585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Por diseño, un baseline de este tipo no usa información de las canciones; eso es justamente lo que permite usarlo como referencia mínima.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g3f18b6b1997_0_2"/>
          <p:cNvSpPr/>
          <p:nvPr/>
        </p:nvSpPr>
        <p:spPr>
          <a:xfrm>
            <a:off x="7178040" y="1691640"/>
            <a:ext cx="2011800" cy="2194500"/>
          </a:xfrm>
          <a:prstGeom prst="roundRect">
            <a:avLst>
              <a:gd fmla="val 3636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f18b6b1997_0_2"/>
          <p:cNvSpPr/>
          <p:nvPr/>
        </p:nvSpPr>
        <p:spPr>
          <a:xfrm>
            <a:off x="7178040" y="1801368"/>
            <a:ext cx="2011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-0.0053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3f18b6b1997_0_2"/>
          <p:cNvSpPr/>
          <p:nvPr/>
        </p:nvSpPr>
        <p:spPr>
          <a:xfrm>
            <a:off x="7315200" y="3429000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R² (GroupKFold)</a:t>
            </a:r>
            <a:endParaRPr i="0" sz="11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f18b6b1997_0_2"/>
          <p:cNvSpPr/>
          <p:nvPr/>
        </p:nvSpPr>
        <p:spPr>
          <a:xfrm>
            <a:off x="9418320" y="1691640"/>
            <a:ext cx="2011800" cy="2194500"/>
          </a:xfrm>
          <a:prstGeom prst="roundRect">
            <a:avLst>
              <a:gd fmla="val 3636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3f18b6b1997_0_2"/>
          <p:cNvSpPr/>
          <p:nvPr/>
        </p:nvSpPr>
        <p:spPr>
          <a:xfrm>
            <a:off x="9418320" y="1801368"/>
            <a:ext cx="2011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25.06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f18b6b1997_0_2"/>
          <p:cNvSpPr/>
          <p:nvPr/>
        </p:nvSpPr>
        <p:spPr>
          <a:xfrm>
            <a:off x="9555480" y="3429000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RMSE (puntos)</a:t>
            </a:r>
            <a:endParaRPr i="0" sz="11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f18b6b1997_0_2"/>
          <p:cNvSpPr/>
          <p:nvPr/>
        </p:nvSpPr>
        <p:spPr>
          <a:xfrm>
            <a:off x="7178040" y="4114800"/>
            <a:ext cx="4251900" cy="2057400"/>
          </a:xfrm>
          <a:prstGeom prst="roundRect">
            <a:avLst>
              <a:gd fmla="val 3556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g3f18b6b1997_0_2"/>
          <p:cNvSpPr/>
          <p:nvPr/>
        </p:nvSpPr>
        <p:spPr>
          <a:xfrm>
            <a:off x="7452360" y="4279392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Interpretación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g3f18b6b1997_0_2"/>
          <p:cNvSpPr/>
          <p:nvPr/>
        </p:nvSpPr>
        <p:spPr>
          <a:xfrm>
            <a:off x="7452360" y="4681728"/>
            <a:ext cx="370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R² próximo a 0 confirma que predecir el promedio no captura ninguna señal real. Cualquier modelo con R² mayor ya aporta valor sobre este piso.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g3f18b6b1997_0_2"/>
          <p:cNvSpPr/>
          <p:nvPr/>
        </p:nvSpPr>
        <p:spPr>
          <a:xfrm>
            <a:off x="11521440" y="651052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2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777240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Selección de Modelos: ¿qué algoritmos se probaron?</a:t>
            </a:r>
            <a:endParaRPr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457200" y="1828805"/>
          <a:ext cx="6949500" cy="42063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0" name="Google Shape;90;p4"/>
          <p:cNvSpPr/>
          <p:nvPr/>
        </p:nvSpPr>
        <p:spPr>
          <a:xfrm>
            <a:off x="7635240" y="1554480"/>
            <a:ext cx="4114800" cy="1920240"/>
          </a:xfrm>
          <a:prstGeom prst="roundRect">
            <a:avLst>
              <a:gd fmla="val 381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trophy_orange.png"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1755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8458200" y="17556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Ganador: ExtraTrees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863840" y="228600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R²=0.278 sin tunear: ya supera a Random Forest, Gradient Boosting y modelos lineales en este problema.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35240" y="3657600"/>
            <a:ext cx="4114800" cy="2514600"/>
          </a:xfrm>
          <a:prstGeom prst="roundRect">
            <a:avLst>
              <a:gd fmla="val 2909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863840" y="3840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¿Por qué ExtraTrees generaliza mejor?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863840" y="4297680"/>
            <a:ext cx="3703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200"/>
              <a:buFont typeface="Montserrat"/>
              <a:buChar char="•"/>
            </a:pPr>
            <a:r>
              <a:rPr i="0" lang="en-US" sz="12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Modelos lineales (Ridge, Lasso): R² menor a 0.02; la popularidad no depende linealmente del audio.</a:t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D2D"/>
              </a:buClr>
              <a:buSzPts val="1200"/>
              <a:buFont typeface="Montserrat"/>
              <a:buChar char="•"/>
            </a:pPr>
            <a:r>
              <a:rPr i="0" lang="en-US" sz="12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Boosting (GBM): se ajusta más al train, generaliza peor a géneros no vistos.</a:t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D2D"/>
              </a:buClr>
              <a:buSzPts val="1200"/>
              <a:buFont typeface="Montserrat"/>
              <a:buChar char="•"/>
            </a:pPr>
            <a:r>
              <a:rPr i="0" lang="en-US" sz="12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ExtraTrees: aleatoriedad extra en cada split, mayor robustez ante distribution shift.</a:t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2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Estrategia de validación: GroupKFold por género</a:t>
            </a:r>
            <a:endParaRPr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" y="1554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Géneros en TRAIN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7" name="Google Shape;107;p5"/>
          <p:cNvGraphicFramePr/>
          <p:nvPr/>
        </p:nvGraphicFramePr>
        <p:xfrm>
          <a:off x="365760" y="1874520"/>
          <a:ext cx="3017520" cy="2377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8" name="Google Shape;108;p5"/>
          <p:cNvSpPr/>
          <p:nvPr/>
        </p:nvSpPr>
        <p:spPr>
          <a:xfrm>
            <a:off x="3520440" y="1554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Géneros en VAL (test)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9" name="Google Shape;109;p5"/>
          <p:cNvGraphicFramePr/>
          <p:nvPr/>
        </p:nvGraphicFramePr>
        <p:xfrm>
          <a:off x="3429000" y="1874520"/>
          <a:ext cx="30175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0" name="Google Shape;110;p5"/>
          <p:cNvSpPr/>
          <p:nvPr/>
        </p:nvSpPr>
        <p:spPr>
          <a:xfrm>
            <a:off x="6675120" y="1554480"/>
            <a:ext cx="5029200" cy="2697480"/>
          </a:xfrm>
          <a:prstGeom prst="roundRect">
            <a:avLst>
              <a:gd fmla="val 2712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warning_orange.png" id="111" name="Google Shape;11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9440" y="17556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7498080" y="175564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EDM no existe en train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949440" y="2286000"/>
            <a:ext cx="4526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92% del conjunto de test es un género completamente ausente del entrenamiento. Una validación cruzada aleatoria (K-Fold estándar) no detecta este problema.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949440" y="3246120"/>
            <a:ext cx="4526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Solución: GroupKFold agrupando por género. En cada fold, un género completo queda afuera del entrenamiento, simulando el problema real.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4572000"/>
            <a:ext cx="11247120" cy="1783080"/>
          </a:xfrm>
          <a:prstGeom prst="roundRect">
            <a:avLst>
              <a:gd fmla="val 4103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77240" y="473659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Mecánica de GroupKFold (5 folds, uno por género)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77240" y="5212080"/>
            <a:ext cx="201168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77240" y="52852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Fold 1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77240" y="5532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Afuera: rap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77240" y="5806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entrena con los otros 4</a:t>
            </a:r>
            <a:endParaRPr i="0" sz="9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926080" y="5212080"/>
            <a:ext cx="201168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926080" y="52852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Fold 2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926080" y="5532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Afuera: pop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926080" y="5806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entrena con los otros 4</a:t>
            </a:r>
            <a:endParaRPr i="0" sz="9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74920" y="5212080"/>
            <a:ext cx="201168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74920" y="52852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Fold 3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074920" y="5532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Afuera: latin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074920" y="5806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entrena con los otros 4</a:t>
            </a:r>
            <a:endParaRPr i="0" sz="9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223760" y="5212080"/>
            <a:ext cx="201168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223760" y="52852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Fold 4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223760" y="5532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Afuera: rock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223760" y="5806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entrena con los otros 4</a:t>
            </a:r>
            <a:endParaRPr i="0" sz="9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372600" y="5212080"/>
            <a:ext cx="201168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372600" y="52852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Fold 5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372600" y="5532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9762B"/>
                </a:solidFill>
                <a:latin typeface="Montserrat"/>
                <a:ea typeface="Montserrat"/>
                <a:cs typeface="Montserrat"/>
                <a:sym typeface="Montserrat"/>
              </a:rPr>
              <a:t>Afuera: r&amp;b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372600" y="5806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entrena con los otros 4</a:t>
            </a:r>
            <a:endParaRPr i="0" sz="9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2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7772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Búsqueda de hiperparámetros (Grid Search + GroupKFold)</a:t>
            </a:r>
            <a:endParaRPr i="0" sz="2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Una vez elegido ExtraTrees, se buscó la mejor configuración mediante GridSearchCV usando los folds de GroupKFold, manteniendo siempre la lógica de género no visto.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45720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{DD68D7F4-A186-4D17-ABC7-507E7101B128}</a:tableStyleId>
              </a:tblPr>
              <a:tblGrid>
                <a:gridCol w="1691650"/>
                <a:gridCol w="1691650"/>
                <a:gridCol w="1691650"/>
                <a:gridCol w="16916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n_estimators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min_samples_leaf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max_features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R² (GroupKFold)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0.2598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0.2654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C5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A5C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C5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A5C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C5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A5C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C5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A5C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0.2765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500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0.2691</a:t>
                      </a:r>
                      <a:endParaRPr sz="12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8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Google Shape;148;p6"/>
          <p:cNvSpPr/>
          <p:nvPr/>
        </p:nvSpPr>
        <p:spPr>
          <a:xfrm>
            <a:off x="457200" y="4526280"/>
            <a:ext cx="6766560" cy="1828800"/>
          </a:xfrm>
          <a:prstGeom prst="roundRect">
            <a:avLst>
              <a:gd fmla="val 400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77240" y="4690872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final elegida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77240" y="5074920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n_estimators=500, min_samples_leaf=2, max_features=0.7: el mejor balance entre flexibilidad y generalización (hojas con al menos 2 ejemplos, 70% de features por split).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498080" y="2240280"/>
            <a:ext cx="4206240" cy="4114800"/>
          </a:xfrm>
          <a:prstGeom prst="roundRect">
            <a:avLst>
              <a:gd fmla="val 1778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772400" y="24048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Otras configuraciones evaluadas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772400" y="283464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Montserrat"/>
              <a:buChar char="•"/>
            </a:pPr>
            <a:r>
              <a:rPr i="0" lang="en-US" sz="12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Feature sets: con y sin estadísticas de artista/álbum (descartadas: afectan al 69% de canciones con artista no visto).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Montserrat"/>
              <a:buChar char="•"/>
            </a:pPr>
            <a:r>
              <a:rPr i="0" lang="en-US" sz="12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Codificación de fecha: año vs. antigüedad en días vs. flags de fecha sospechosa (1 de enero).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Montserrat"/>
              <a:buChar char="•"/>
            </a:pPr>
            <a:r>
              <a:rPr i="0" lang="en-US" sz="12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Ensembles de semillas (3 a 5 modelos promediados): no aportó mejora consistente.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Montserrat"/>
              <a:buChar char="•"/>
            </a:pPr>
            <a:r>
              <a:rPr i="0" lang="en-US" sz="12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Modelo único vs. modelo especializado por género (ver Sección 3).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3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7772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Modelo Final: arquitectura de dos componentes</a:t>
            </a:r>
            <a:endParaRPr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r&amp;b es el único género presente en ambos conjuntos. Esto permite entrenar un segundo modelo especializado, exclusivamente para ese género.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2057400"/>
            <a:ext cx="5349240" cy="3931920"/>
          </a:xfrm>
          <a:prstGeom prst="roundRect">
            <a:avLst>
              <a:gd fmla="val 1860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layers_teal.png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286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1417320" y="228600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Modelo A — General</a:t>
            </a:r>
            <a:endParaRPr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77240" y="2971800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Entrenado con el 100% de train (26.266 filas, 5 géneros).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ExtraTrees: n_estimators=500, min_samples_leaf=2, max_features=0.7.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Predice las observaciones de EDM (única opción disponible).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77240" y="4754880"/>
            <a:ext cx="2331720" cy="1097280"/>
          </a:xfrm>
          <a:prstGeom prst="roundRect">
            <a:avLst>
              <a:gd fmla="val 666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77240" y="486460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E7C7B"/>
                </a:solidFill>
                <a:latin typeface="Montserrat"/>
                <a:ea typeface="Montserrat"/>
                <a:cs typeface="Montserrat"/>
                <a:sym typeface="Montserrat"/>
              </a:rPr>
              <a:t>0.2765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14400" y="53949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R² global (GroupKFold)</a:t>
            </a:r>
            <a:endParaRPr i="0" sz="11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246120" y="4754880"/>
            <a:ext cx="2331720" cy="1097280"/>
          </a:xfrm>
          <a:prstGeom prst="roundRect">
            <a:avLst>
              <a:gd fmla="val 666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246120" y="486460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E7C7B"/>
                </a:solidFill>
                <a:latin typeface="Montserrat"/>
                <a:ea typeface="Montserrat"/>
                <a:cs typeface="Montserrat"/>
                <a:sym typeface="Montserrat"/>
              </a:rPr>
              <a:t>0.3641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383280" y="53949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R² en filas de r&amp;b</a:t>
            </a:r>
            <a:endParaRPr i="0" sz="11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080760" y="2057400"/>
            <a:ext cx="5669280" cy="3931920"/>
          </a:xfrm>
          <a:prstGeom prst="roundRect">
            <a:avLst>
              <a:gd fmla="val 1860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search_teal.png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286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7040880" y="22860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Modelo B — Especializado en r&amp;b</a:t>
            </a:r>
            <a:endParaRPr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0" y="2971800"/>
            <a:ext cx="51206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Entrenado solo con las 4.907 filas de r&amp;b de train.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Mismos hiperparámetros que el Modelo A (sin tuning adicional).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Montserrat"/>
              <a:buChar char="•"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Hipótesis: al no compartir capacidad con otros 4 géneros, captura mejor los patrones específicos de r&amp;b.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0800" y="4754880"/>
            <a:ext cx="2468880" cy="1097280"/>
          </a:xfrm>
          <a:prstGeom prst="roundRect">
            <a:avLst>
              <a:gd fmla="val 666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400800" y="486460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936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936F"/>
                </a:solidFill>
                <a:latin typeface="Montserrat"/>
                <a:ea typeface="Montserrat"/>
                <a:cs typeface="Montserrat"/>
                <a:sym typeface="Montserrat"/>
              </a:rPr>
              <a:t>0.4222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537960" y="53949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R² en r&amp;b (especializado)</a:t>
            </a:r>
            <a:endParaRPr i="0" sz="11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052560" y="4754880"/>
            <a:ext cx="2468880" cy="1097280"/>
          </a:xfrm>
          <a:prstGeom prst="roundRect">
            <a:avLst>
              <a:gd fmla="val 6667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052560" y="486460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936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936F"/>
                </a:solidFill>
                <a:latin typeface="Montserrat"/>
                <a:ea typeface="Montserrat"/>
                <a:cs typeface="Montserrat"/>
                <a:sym typeface="Montserrat"/>
              </a:rPr>
              <a:t>+0.0581</a:t>
            </a:r>
            <a:endParaRPr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144000" y="5440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mejora vs. Modelo A en r&amp;b</a:t>
            </a:r>
            <a:endParaRPr i="0" sz="10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3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7772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Cómo se combinan los modelos y features utilizadas</a:t>
            </a:r>
            <a:endParaRPr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1554480"/>
            <a:ext cx="5486400" cy="2423160"/>
          </a:xfrm>
          <a:prstGeom prst="roundRect">
            <a:avLst>
              <a:gd fmla="val 3019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31520" y="170078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Predicción sobre el conjunto de test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31520" y="2148840"/>
            <a:ext cx="228600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31520" y="2148840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9762B"/>
                </a:solidFill>
                <a:latin typeface="Calibri"/>
                <a:ea typeface="Calibri"/>
                <a:cs typeface="Calibri"/>
                <a:sym typeface="Calibri"/>
              </a:rPr>
              <a:t>Fila = r&amp;b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6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9762B"/>
                </a:solidFill>
                <a:latin typeface="Calibri"/>
                <a:ea typeface="Calibri"/>
                <a:cs typeface="Calibri"/>
                <a:sym typeface="Calibri"/>
              </a:rPr>
              <a:t>(524 filas, 8%)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teal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0" y="2377440"/>
            <a:ext cx="3200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3566160" y="2148840"/>
            <a:ext cx="2194560" cy="713232"/>
          </a:xfrm>
          <a:prstGeom prst="roundRect">
            <a:avLst>
              <a:gd fmla="val 7692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566160" y="2148840"/>
            <a:ext cx="2194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70% Modelo 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+ 30% Modelo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31520" y="2971800"/>
            <a:ext cx="228600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7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31520" y="2971800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Fila = EDM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(6.043 filas, 92%)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teal.png" id="202" name="Google Shape;2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0" y="3200400"/>
            <a:ext cx="3200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3566160" y="2971800"/>
            <a:ext cx="2194560" cy="713232"/>
          </a:xfrm>
          <a:prstGeom prst="roundRect">
            <a:avLst>
              <a:gd fmla="val 7692" name="adj"/>
            </a:avLst>
          </a:prstGeom>
          <a:solidFill>
            <a:srgbClr val="5FA0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566160" y="2971800"/>
            <a:ext cx="2194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Modelo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31520" y="3767328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El blend 70/30 (en vez de 100% del Modelo B) reduce el riesgo de sobreajuste, ya que B usa menos datos.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263650" y="1554475"/>
            <a:ext cx="5486400" cy="2624400"/>
          </a:xfrm>
          <a:prstGeom prst="roundRect">
            <a:avLst>
              <a:gd fmla="val 3019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537960" y="170078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28 features utilizadas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537960" y="2121408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537960" y="21214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040880" y="2084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D2D"/>
                </a:solidFill>
                <a:latin typeface="Calibri"/>
                <a:ea typeface="Calibri"/>
                <a:cs typeface="Calibri"/>
                <a:sym typeface="Calibri"/>
              </a:rPr>
              <a:t>Audio original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040880" y="23408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danceability, energy, loudness, tempo...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537960" y="2619756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6537960" y="26197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040880" y="25831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D2D"/>
                </a:solidFill>
                <a:latin typeface="Calibri"/>
                <a:ea typeface="Calibri"/>
                <a:cs typeface="Calibri"/>
                <a:sym typeface="Calibri"/>
              </a:rPr>
              <a:t>Fecha de lanzamiento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040880" y="28392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año, antigüedad, flags de calidad del dato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537960" y="3118104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537960" y="31181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040880" y="30815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D2D"/>
                </a:solidFill>
                <a:latin typeface="Calibri"/>
                <a:ea typeface="Calibri"/>
                <a:cs typeface="Calibri"/>
                <a:sym typeface="Calibri"/>
              </a:rPr>
              <a:t>Interacciones de audio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04088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energy x loudness, valence x danceability...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537960" y="3616452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537960" y="36164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040880" y="35798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D2D"/>
                </a:solidFill>
                <a:latin typeface="Calibri"/>
                <a:ea typeface="Calibri"/>
                <a:cs typeface="Calibri"/>
                <a:sym typeface="Calibri"/>
              </a:rPr>
              <a:t>Frecuencia + meta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040880" y="38359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artist_freq, album_freq, genre_seen_in_train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4114800"/>
            <a:ext cx="11292840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31520" y="4288541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Top </a:t>
            </a:r>
            <a:r>
              <a:rPr b="1" lang="en-US" sz="13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-US" sz="13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 features por importancia (Modelo A)</a:t>
            </a:r>
            <a:endParaRPr i="0" sz="13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8" title="Captura de pantalla 2026-06-17 a la(s) 1.47.08 a. m..png"/>
          <p:cNvPicPr preferRelativeResize="0"/>
          <p:nvPr/>
        </p:nvPicPr>
        <p:blipFill rotWithShape="1">
          <a:blip r:embed="rId4">
            <a:alphaModFix/>
          </a:blip>
          <a:srcRect b="32368" l="0" r="0" t="25309"/>
          <a:stretch/>
        </p:blipFill>
        <p:spPr>
          <a:xfrm>
            <a:off x="472500" y="4759450"/>
            <a:ext cx="11247000" cy="1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3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7200" y="7772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Performance final: del baseline al modelo híbrido</a:t>
            </a:r>
            <a:endParaRPr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6" name="Google Shape;236;p9"/>
          <p:cNvGraphicFramePr/>
          <p:nvPr/>
        </p:nvGraphicFramePr>
        <p:xfrm>
          <a:off x="457200" y="1554480"/>
          <a:ext cx="5852160" cy="3383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37" name="Google Shape;237;p9"/>
          <p:cNvSpPr/>
          <p:nvPr/>
        </p:nvSpPr>
        <p:spPr>
          <a:xfrm>
            <a:off x="6583680" y="1554480"/>
            <a:ext cx="5166360" cy="3383280"/>
          </a:xfrm>
          <a:prstGeom prst="roundRect">
            <a:avLst>
              <a:gd fmla="val 2162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858000" y="170078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Evolución del Public Score en Kaggle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858000" y="2194560"/>
            <a:ext cx="461772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040880" y="21945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Voting (3 modelos)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058400" y="219456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0.339</a:t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858000" y="3063240"/>
            <a:ext cx="461772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040880" y="30632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ExtraTrees tuneado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0058400" y="306324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0.356</a:t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858000" y="3931920"/>
            <a:ext cx="4617720" cy="685800"/>
          </a:xfrm>
          <a:prstGeom prst="roundRect">
            <a:avLst>
              <a:gd fmla="val 8000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040880" y="393192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Modelo híbrido (final)</a:t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058400" y="393192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0.358</a:t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trophy_orange.png" id="248" name="Google Shape;2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2725" y="55412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7294375" y="5489660"/>
            <a:ext cx="4297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Score final: 0.358. Mejora consistente en cada iteración, validada siempre con GroupKFold antes de subir a Kaggle.</a:t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57200" y="507492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6B6A"/>
                </a:solidFill>
                <a:latin typeface="Montserrat"/>
                <a:ea typeface="Montserrat"/>
                <a:cs typeface="Montserrat"/>
                <a:sym typeface="Montserrat"/>
              </a:rPr>
              <a:t>El salto de R² entre el baseline y ExtraTrees confirma que las features de audio y metadata aportan señal real, y no se trata de un resultado casual.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5B"/>
                </a:solidFill>
                <a:latin typeface="Montserrat"/>
                <a:ea typeface="Montserrat"/>
                <a:cs typeface="Montserrat"/>
                <a:sym typeface="Montserrat"/>
              </a:rPr>
              <a:t>SECCIÓN 4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Limitaciones y posibles mejoras</a:t>
            </a:r>
            <a:endParaRPr i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160020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E3F2F1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warning_orange.png" id="261" name="Google Shape;2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1417320" y="1874520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cuello de botella: EDM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31520" y="251460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92% del test no tiene ningún ejemplo equivalente en train. El Modelo A es la única opción disponible y su R² en géneros no vistos (~0.25) refleja ese límite estructural.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263640" y="160020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search_teal.png" id="265" name="Google Shape;2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7223760" y="1874520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Datos externos de EDM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537960" y="251460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Incorporar canciones de EDM permitiría entrenar un modelo especializado para ese género, replicando la estrategia utilizada con r&amp;b y mejorando la capacidad predictiva sobre la mayor parte del test.</a:t>
            </a:r>
            <a:endParaRPr sz="12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4251960"/>
            <a:ext cx="5440800" cy="2331600"/>
          </a:xfrm>
          <a:prstGeom prst="roundRect">
            <a:avLst>
              <a:gd fmla="val 313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balance_teal.png" id="269" name="Google Shape;26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526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1417320" y="4619930"/>
            <a:ext cx="425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Más información del artista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D2D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31520" y="516636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dataset no incluye variables como seguidores, reproducciones históricas o popularidad del artista. Incorporar este tipo de información podría aportar señal adicional para explicar la popularidad de una canción.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263640" y="425196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4FAF9"/>
          </a:solidFill>
          <a:ln>
            <a:noFill/>
          </a:ln>
          <a:effectLst>
            <a:outerShdw blurRad="101600" rotWithShape="0" algn="bl" dir="5400000" dist="38100">
              <a:srgbClr val="0E7C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home/claude/icons/random_teal.png" id="273" name="Google Shape;27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4526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/>
          <p:nvPr/>
        </p:nvSpPr>
        <p:spPr>
          <a:xfrm>
            <a:off x="7223760" y="4526280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Más información temporal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537960" y="5218385"/>
            <a:ext cx="4892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1F2D2D"/>
                </a:solidFill>
                <a:latin typeface="Montserrat"/>
                <a:ea typeface="Montserrat"/>
                <a:cs typeface="Montserrat"/>
                <a:sym typeface="Montserrat"/>
              </a:rPr>
              <a:t>El dataset sólo contiene la fecha de lanzamiento de cada canción. Contar con información sobre la evolución de la popularidad a lo largo del tiempo permitiría capturar tendencias y cambios en los patrones de escucha.</a:t>
            </a:r>
            <a:endParaRPr sz="12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2D2D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1F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5C5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0E7C7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4FD1C5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E8E6"/>
              </a:buClr>
              <a:buSzPts val="2200"/>
              <a:buFont typeface="Calibri"/>
              <a:buNone/>
            </a:pPr>
            <a:r>
              <a:rPr i="0" lang="en-US" sz="2200" u="none" cap="none" strike="noStrike">
                <a:solidFill>
                  <a:srgbClr val="AEE8E6"/>
                </a:solidFill>
                <a:latin typeface="Montserrat"/>
                <a:ea typeface="Montserrat"/>
                <a:cs typeface="Montserrat"/>
                <a:sym typeface="Montserrat"/>
              </a:rPr>
              <a:t>Resumen</a:t>
            </a:r>
            <a:endParaRPr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40080" y="141732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Modelo ExtraTrees con especialización</a:t>
            </a:r>
            <a:endParaRPr i="0" sz="3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 género: Public Score 0.358</a:t>
            </a:r>
            <a:endParaRPr i="0" sz="3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40080" y="3383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D1C5"/>
                </a:solidFill>
                <a:latin typeface="Montserrat"/>
                <a:ea typeface="Montserrat"/>
                <a:cs typeface="Montserrat"/>
                <a:sym typeface="Montserrat"/>
              </a:rPr>
              <a:t>-0.005</a:t>
            </a:r>
            <a:endParaRPr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FEE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D7EFEE"/>
                </a:solidFill>
                <a:latin typeface="Montserrat"/>
                <a:ea typeface="Montserrat"/>
                <a:cs typeface="Montserrat"/>
                <a:sym typeface="Montserrat"/>
              </a:rPr>
              <a:t>R² Baseline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337560" y="3383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D1C5"/>
                </a:solidFill>
                <a:latin typeface="Montserrat"/>
                <a:ea typeface="Montserrat"/>
                <a:cs typeface="Montserrat"/>
                <a:sym typeface="Montserrat"/>
              </a:rPr>
              <a:t>0.276</a:t>
            </a:r>
            <a:endParaRPr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33756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FEE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D7EFEE"/>
                </a:solidFill>
                <a:latin typeface="Montserrat"/>
                <a:ea typeface="Montserrat"/>
                <a:cs typeface="Montserrat"/>
                <a:sym typeface="Montserrat"/>
              </a:rPr>
              <a:t>R² Modelo A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035040" y="3383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D1C5"/>
                </a:solidFill>
                <a:latin typeface="Montserrat"/>
                <a:ea typeface="Montserrat"/>
                <a:cs typeface="Montserrat"/>
                <a:sym typeface="Montserrat"/>
              </a:rPr>
              <a:t>0.422</a:t>
            </a:r>
            <a:endParaRPr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03504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FEE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D7EFEE"/>
                </a:solidFill>
                <a:latin typeface="Montserrat"/>
                <a:ea typeface="Montserrat"/>
                <a:cs typeface="Montserrat"/>
                <a:sym typeface="Montserrat"/>
              </a:rPr>
              <a:t>R² Modelo B (r&amp;b)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8732520" y="3383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D1C5"/>
                </a:solidFill>
                <a:latin typeface="Montserrat"/>
                <a:ea typeface="Montserrat"/>
                <a:cs typeface="Montserrat"/>
                <a:sym typeface="Montserrat"/>
              </a:rPr>
              <a:t>0.358</a:t>
            </a:r>
            <a:endParaRPr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873252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FEE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D7EFEE"/>
                </a:solidFill>
                <a:latin typeface="Montserrat"/>
                <a:ea typeface="Montserrat"/>
                <a:cs typeface="Montserrat"/>
                <a:sym typeface="Montserrat"/>
              </a:rPr>
              <a:t>Public Score Kaggle</a:t>
            </a:r>
            <a:endParaRPr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0080" y="5486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E8E6"/>
              </a:buClr>
              <a:buSzPts val="1800"/>
              <a:buFont typeface="Calibri"/>
              <a:buNone/>
            </a:pPr>
            <a:r>
              <a:rPr i="1" lang="en-US" sz="1800" u="none" cap="none" strike="noStrike">
                <a:solidFill>
                  <a:srgbClr val="AEE8E6"/>
                </a:solidFill>
                <a:latin typeface="Montserrat"/>
                <a:ea typeface="Montserrat"/>
                <a:cs typeface="Montserrat"/>
                <a:sym typeface="Montserrat"/>
              </a:rPr>
              <a:t>Gracias.</a:t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2026-06-17T02:47:38Z</dcterms:created>
  <dc:creator>Estudiante ITBA</dc:creator>
</cp:coreProperties>
</file>